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73" r:id="rId5"/>
    <p:sldId id="259" r:id="rId6"/>
    <p:sldId id="260" r:id="rId7"/>
    <p:sldId id="274" r:id="rId8"/>
    <p:sldId id="261" r:id="rId9"/>
    <p:sldId id="275" r:id="rId10"/>
    <p:sldId id="262" r:id="rId11"/>
    <p:sldId id="263" r:id="rId12"/>
    <p:sldId id="276" r:id="rId13"/>
    <p:sldId id="264" r:id="rId14"/>
    <p:sldId id="265" r:id="rId15"/>
    <p:sldId id="266" r:id="rId16"/>
    <p:sldId id="267" r:id="rId17"/>
    <p:sldId id="272" r:id="rId18"/>
  </p:sldIdLst>
  <p:sldSz cx="18288000" cy="10287000"/>
  <p:notesSz cx="6858000" cy="9144000"/>
  <p:embeddedFontLst>
    <p:embeddedFont>
      <p:font typeface="DM Serif Display" pitchFamily="2" charset="0"/>
      <p:regular r:id="rId19"/>
      <p:italic r:id="rId20"/>
    </p:embeddedFont>
    <p:embeddedFont>
      <p:font typeface="Open Sauce" panose="020B0604020202020204" charset="0"/>
      <p:regular r:id="rId21"/>
    </p:embeddedFont>
    <p:embeddedFont>
      <p:font typeface="Open Sauce Bold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99" autoAdjust="0"/>
    <p:restoredTop sz="95033" autoAdjust="0"/>
  </p:normalViewPr>
  <p:slideViewPr>
    <p:cSldViewPr>
      <p:cViewPr varScale="1">
        <p:scale>
          <a:sx n="55" d="100"/>
          <a:sy n="55" d="100"/>
        </p:scale>
        <p:origin x="682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206" y="0"/>
            <a:ext cx="18288000" cy="104013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859000" y="10391"/>
            <a:ext cx="3244199" cy="1601658"/>
          </a:xfrm>
          <a:custGeom>
            <a:avLst/>
            <a:gdLst/>
            <a:ahLst/>
            <a:cxnLst/>
            <a:rect l="l" t="t" r="r" b="b"/>
            <a:pathLst>
              <a:path w="4123974" h="2675023">
                <a:moveTo>
                  <a:pt x="0" y="0"/>
                </a:moveTo>
                <a:lnTo>
                  <a:pt x="4123974" y="0"/>
                </a:lnTo>
                <a:lnTo>
                  <a:pt x="4123974" y="2675023"/>
                </a:lnTo>
                <a:lnTo>
                  <a:pt x="0" y="26750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453" t="-58132" r="-63655" b="-56841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37201" y="1078370"/>
            <a:ext cx="9316373" cy="2497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99"/>
              </a:lnSpc>
            </a:pPr>
            <a:r>
              <a:rPr lang="en-US" sz="14499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" y="4529894"/>
            <a:ext cx="7288453" cy="18982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b="1" u="sng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PRESENTED BY </a:t>
            </a:r>
            <a:r>
              <a:rPr lang="en-US" sz="24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</a:t>
            </a:r>
          </a:p>
          <a:p>
            <a:pPr>
              <a:lnSpc>
                <a:spcPts val="3840"/>
              </a:lnSpc>
            </a:pPr>
            <a:r>
              <a:rPr lang="en-US" sz="16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                                              OMKAR DONGARE</a:t>
            </a:r>
          </a:p>
          <a:p>
            <a:pPr>
              <a:lnSpc>
                <a:spcPts val="3840"/>
              </a:lnSpc>
            </a:pPr>
            <a:r>
              <a:rPr lang="en-US" sz="24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   </a:t>
            </a:r>
          </a:p>
          <a:p>
            <a:pPr algn="l">
              <a:lnSpc>
                <a:spcPts val="3840"/>
              </a:lnSpc>
              <a:spcBef>
                <a:spcPct val="0"/>
              </a:spcBef>
            </a:pPr>
            <a:endParaRPr lang="en-US" sz="2400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C65A39-8221-9158-4118-86DE791B69B1}"/>
              </a:ext>
            </a:extLst>
          </p:cNvPr>
          <p:cNvSpPr txBox="1"/>
          <p:nvPr/>
        </p:nvSpPr>
        <p:spPr>
          <a:xfrm rot="10800000" flipV="1">
            <a:off x="337201" y="1794464"/>
            <a:ext cx="9982200" cy="160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6239"/>
              </a:lnSpc>
              <a:spcBef>
                <a:spcPct val="0"/>
              </a:spcBef>
            </a:pPr>
            <a:r>
              <a:rPr lang="en-US" sz="4000" b="1" dirty="0">
                <a:latin typeface="Open Sauce" panose="020B0604020202020204" charset="0"/>
              </a:rPr>
              <a:t>Food Trends Understanding Customer Preferences in FB</a:t>
            </a:r>
            <a:endParaRPr lang="en-US" sz="4000" b="1" dirty="0">
              <a:solidFill>
                <a:srgbClr val="000000"/>
              </a:solidFill>
              <a:latin typeface="Open Sauce" panose="020B0604020202020204" charset="0"/>
              <a:ea typeface="Open Sauce Bold"/>
              <a:cs typeface="Open Sauce Bold"/>
              <a:sym typeface="Open Sauce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8268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800100" y="382106"/>
            <a:ext cx="6667500" cy="6276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79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PROBLEM STATEMENT</a:t>
            </a: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5CACCC86-217A-E38B-2F95-819BB7CC37B3}"/>
              </a:ext>
            </a:extLst>
          </p:cNvPr>
          <p:cNvSpPr/>
          <p:nvPr/>
        </p:nvSpPr>
        <p:spPr>
          <a:xfrm>
            <a:off x="14935200" y="81883"/>
            <a:ext cx="2900196" cy="1438360"/>
          </a:xfrm>
          <a:custGeom>
            <a:avLst/>
            <a:gdLst/>
            <a:ahLst/>
            <a:cxnLst/>
            <a:rect l="l" t="t" r="r" b="b"/>
            <a:pathLst>
              <a:path w="4123974" h="2675023">
                <a:moveTo>
                  <a:pt x="0" y="0"/>
                </a:moveTo>
                <a:lnTo>
                  <a:pt x="4123974" y="0"/>
                </a:lnTo>
                <a:lnTo>
                  <a:pt x="4123974" y="2675023"/>
                </a:lnTo>
                <a:lnTo>
                  <a:pt x="0" y="26750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453" t="-58132" r="-63655" b="-56841"/>
            </a:stretch>
          </a:blipFill>
        </p:spPr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1C2F65-52C3-3FFB-78A2-AE6F39841C65}"/>
              </a:ext>
            </a:extLst>
          </p:cNvPr>
          <p:cNvSpPr txBox="1"/>
          <p:nvPr/>
        </p:nvSpPr>
        <p:spPr>
          <a:xfrm>
            <a:off x="1477297" y="2094825"/>
            <a:ext cx="134874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• Businesses need to understand customer feedback</a:t>
            </a:r>
          </a:p>
          <a:p>
            <a:endParaRPr lang="en-US" sz="3200" dirty="0"/>
          </a:p>
          <a:p>
            <a:r>
              <a:rPr lang="en-US" sz="3200" dirty="0"/>
              <a:t>• Large amount of restaurant data available</a:t>
            </a:r>
          </a:p>
          <a:p>
            <a:endParaRPr lang="en-US" sz="3200" dirty="0"/>
          </a:p>
          <a:p>
            <a:r>
              <a:rPr lang="en-US" sz="3200" dirty="0"/>
              <a:t>• Difficult to extract insights manually</a:t>
            </a:r>
          </a:p>
          <a:p>
            <a:endParaRPr lang="en-US" sz="3200" dirty="0"/>
          </a:p>
          <a:p>
            <a:r>
              <a:rPr lang="en-US" sz="3200" dirty="0"/>
              <a:t>• Need for data-driven decision making</a:t>
            </a:r>
            <a:endParaRPr lang="en-IN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E49C8D91-FF9F-B106-7EAF-998DEDF8FDDE}"/>
              </a:ext>
            </a:extLst>
          </p:cNvPr>
          <p:cNvSpPr/>
          <p:nvPr/>
        </p:nvSpPr>
        <p:spPr>
          <a:xfrm>
            <a:off x="15161502" y="103677"/>
            <a:ext cx="2900196" cy="1438360"/>
          </a:xfrm>
          <a:custGeom>
            <a:avLst/>
            <a:gdLst/>
            <a:ahLst/>
            <a:cxnLst/>
            <a:rect l="l" t="t" r="r" b="b"/>
            <a:pathLst>
              <a:path w="4123974" h="2675023">
                <a:moveTo>
                  <a:pt x="0" y="0"/>
                </a:moveTo>
                <a:lnTo>
                  <a:pt x="4123974" y="0"/>
                </a:lnTo>
                <a:lnTo>
                  <a:pt x="4123974" y="2675023"/>
                </a:lnTo>
                <a:lnTo>
                  <a:pt x="0" y="26750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453" t="-58132" r="-63655" b="-56841"/>
            </a:stretch>
          </a:blipFill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3638F7-BB0C-6C26-A9CF-79EA9CA52D3F}"/>
              </a:ext>
            </a:extLst>
          </p:cNvPr>
          <p:cNvSpPr txBox="1"/>
          <p:nvPr/>
        </p:nvSpPr>
        <p:spPr>
          <a:xfrm>
            <a:off x="1524000" y="495329"/>
            <a:ext cx="6477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Open Sauce Bold" panose="020B0604020202020204" charset="0"/>
              </a:rPr>
              <a:t>PROJECT</a:t>
            </a:r>
            <a:r>
              <a:rPr lang="en-IN" sz="3600" b="1" dirty="0">
                <a:latin typeface="Open Sauce" panose="020B0604020202020204" charset="0"/>
              </a:rPr>
              <a:t> </a:t>
            </a:r>
            <a:r>
              <a:rPr lang="en-IN" sz="4000" b="1" dirty="0">
                <a:latin typeface="Open Sauce Bold" panose="020B0604020202020204" charset="0"/>
              </a:rPr>
              <a:t>OBJECTIVE</a:t>
            </a:r>
          </a:p>
          <a:p>
            <a:endParaRPr lang="en-IN" sz="4000" b="1" dirty="0">
              <a:latin typeface="Open Sauce Bold" panose="020B060402020202020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1B65C5-2C5F-E6E3-854F-C1902F3C7830}"/>
              </a:ext>
            </a:extLst>
          </p:cNvPr>
          <p:cNvSpPr txBox="1"/>
          <p:nvPr/>
        </p:nvSpPr>
        <p:spPr>
          <a:xfrm>
            <a:off x="1524000" y="2171700"/>
            <a:ext cx="140208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Analyze restaurant data using Power BI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 Perform sentiment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 Identify product and customer insights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 Support business strategy and innovation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A23486C-D24D-B596-7605-872A9C9975C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endParaRPr lang="en-IN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B4A033-5402-C980-3B0D-B587E9293A6D}"/>
              </a:ext>
            </a:extLst>
          </p:cNvPr>
          <p:cNvSpPr txBox="1"/>
          <p:nvPr/>
        </p:nvSpPr>
        <p:spPr>
          <a:xfrm>
            <a:off x="1295400" y="723900"/>
            <a:ext cx="8763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Open Sauce Bold" panose="020B0604020202020204" charset="0"/>
              </a:rPr>
              <a:t>DATASET 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7E955E-4E25-21D8-D08D-8C0E4924BFE8}"/>
              </a:ext>
            </a:extLst>
          </p:cNvPr>
          <p:cNvSpPr txBox="1"/>
          <p:nvPr/>
        </p:nvSpPr>
        <p:spPr>
          <a:xfrm>
            <a:off x="1600200" y="2155686"/>
            <a:ext cx="153924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- </a:t>
            </a:r>
            <a:r>
              <a:rPr lang="en-US" sz="3200" b="1" dirty="0"/>
              <a:t>Attributes Used</a:t>
            </a:r>
            <a:r>
              <a:rPr lang="en-US" sz="32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 Restaurant 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 Cuisine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 Rating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 Number of Ratings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 Average Price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 Location &amp; Area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 Pure Veg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 Sentiment (created)</a:t>
            </a:r>
            <a:endParaRPr lang="en-IN" sz="3200" dirty="0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CD41F15E-E86E-DBF1-E534-0661A37BC9CE}"/>
              </a:ext>
            </a:extLst>
          </p:cNvPr>
          <p:cNvSpPr/>
          <p:nvPr/>
        </p:nvSpPr>
        <p:spPr>
          <a:xfrm>
            <a:off x="15163800" y="114300"/>
            <a:ext cx="2900196" cy="1438360"/>
          </a:xfrm>
          <a:custGeom>
            <a:avLst/>
            <a:gdLst/>
            <a:ahLst/>
            <a:cxnLst/>
            <a:rect l="l" t="t" r="r" b="b"/>
            <a:pathLst>
              <a:path w="4123974" h="2675023">
                <a:moveTo>
                  <a:pt x="0" y="0"/>
                </a:moveTo>
                <a:lnTo>
                  <a:pt x="4123974" y="0"/>
                </a:lnTo>
                <a:lnTo>
                  <a:pt x="4123974" y="2675023"/>
                </a:lnTo>
                <a:lnTo>
                  <a:pt x="0" y="26750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453" t="-58132" r="-63655" b="-56841"/>
            </a:stretch>
          </a:blipFill>
        </p:spPr>
      </p:sp>
    </p:spTree>
    <p:extLst>
      <p:ext uri="{BB962C8B-B14F-4D97-AF65-F5344CB8AC3E}">
        <p14:creationId xmlns:p14="http://schemas.microsoft.com/office/powerpoint/2010/main" val="3888013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665" y="-20894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1295400" y="0"/>
            <a:ext cx="11430000" cy="10220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359"/>
              </a:lnSpc>
              <a:spcBef>
                <a:spcPct val="0"/>
              </a:spcBef>
            </a:pPr>
            <a:r>
              <a:rPr lang="en-IN" sz="4000" dirty="0">
                <a:latin typeface="Open Sauce Bold" panose="020B0604020202020204" charset="0"/>
              </a:rPr>
              <a:t>DATA COLLECTION AND CLEANING </a:t>
            </a:r>
            <a:endParaRPr lang="en-US" sz="4000" b="1" dirty="0">
              <a:solidFill>
                <a:srgbClr val="000000"/>
              </a:solidFill>
              <a:latin typeface="Open Sauce Bold" panose="020B0604020202020204" charset="0"/>
              <a:ea typeface="Open Sauce"/>
              <a:cs typeface="Open Sauce"/>
              <a:sym typeface="Open Sauce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9B63252-9216-43D4-7833-B7EDEEBD1B16}"/>
              </a:ext>
            </a:extLst>
          </p:cNvPr>
          <p:cNvSpPr/>
          <p:nvPr/>
        </p:nvSpPr>
        <p:spPr>
          <a:xfrm>
            <a:off x="15163800" y="73464"/>
            <a:ext cx="2900196" cy="1438360"/>
          </a:xfrm>
          <a:custGeom>
            <a:avLst/>
            <a:gdLst/>
            <a:ahLst/>
            <a:cxnLst/>
            <a:rect l="l" t="t" r="r" b="b"/>
            <a:pathLst>
              <a:path w="4123974" h="2675023">
                <a:moveTo>
                  <a:pt x="0" y="0"/>
                </a:moveTo>
                <a:lnTo>
                  <a:pt x="4123974" y="0"/>
                </a:lnTo>
                <a:lnTo>
                  <a:pt x="4123974" y="2675023"/>
                </a:lnTo>
                <a:lnTo>
                  <a:pt x="0" y="26750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453" t="-58132" r="-63655" b="-56841"/>
            </a:stretch>
          </a:blipFill>
        </p:spPr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5D794B8-883B-66EC-AAB7-EA25E5127C39}"/>
              </a:ext>
            </a:extLst>
          </p:cNvPr>
          <p:cNvSpPr txBox="1"/>
          <p:nvPr/>
        </p:nvSpPr>
        <p:spPr>
          <a:xfrm>
            <a:off x="1143000" y="2247900"/>
            <a:ext cx="1402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   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B1BFF64-0A0B-056E-E1CB-97249BA16278}"/>
              </a:ext>
            </a:extLst>
          </p:cNvPr>
          <p:cNvSpPr txBox="1"/>
          <p:nvPr/>
        </p:nvSpPr>
        <p:spPr>
          <a:xfrm>
            <a:off x="1143000" y="1634450"/>
            <a:ext cx="1437753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Open Sauce "/>
              </a:rPr>
              <a:t> </a:t>
            </a:r>
            <a:r>
              <a:rPr lang="en-US" sz="3200" dirty="0"/>
              <a:t>Imported structured dataset (restaurant data)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 Handled missing/null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 Removed duplicates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 Created sentiment column using rating logic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 Prepared clean dataset for analysis</a:t>
            </a:r>
            <a:endParaRPr lang="en-IN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FE0A9CA2-9B57-8368-CDBC-720B5992BCA2}"/>
              </a:ext>
            </a:extLst>
          </p:cNvPr>
          <p:cNvSpPr/>
          <p:nvPr/>
        </p:nvSpPr>
        <p:spPr>
          <a:xfrm>
            <a:off x="15365681" y="94723"/>
            <a:ext cx="2900196" cy="1438360"/>
          </a:xfrm>
          <a:custGeom>
            <a:avLst/>
            <a:gdLst/>
            <a:ahLst/>
            <a:cxnLst/>
            <a:rect l="l" t="t" r="r" b="b"/>
            <a:pathLst>
              <a:path w="4123974" h="2675023">
                <a:moveTo>
                  <a:pt x="0" y="0"/>
                </a:moveTo>
                <a:lnTo>
                  <a:pt x="4123974" y="0"/>
                </a:lnTo>
                <a:lnTo>
                  <a:pt x="4123974" y="2675023"/>
                </a:lnTo>
                <a:lnTo>
                  <a:pt x="0" y="26750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453" t="-58132" r="-63655" b="-56841"/>
            </a:stretch>
          </a:blipFill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D0207C-64B4-A15A-3B5C-933CC331B195}"/>
              </a:ext>
            </a:extLst>
          </p:cNvPr>
          <p:cNvSpPr txBox="1"/>
          <p:nvPr/>
        </p:nvSpPr>
        <p:spPr>
          <a:xfrm>
            <a:off x="838200" y="498364"/>
            <a:ext cx="9525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Open Sauce Bold" panose="020B0604020202020204" charset="0"/>
              </a:rPr>
              <a:t>SENTIMENT ANALYSIS MODULE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6A6ADC-82DD-AFD9-E422-E93993460EB9}"/>
              </a:ext>
            </a:extLst>
          </p:cNvPr>
          <p:cNvSpPr txBox="1"/>
          <p:nvPr/>
        </p:nvSpPr>
        <p:spPr>
          <a:xfrm>
            <a:off x="1143000" y="2095500"/>
            <a:ext cx="124968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• Classified data into:</a:t>
            </a:r>
          </a:p>
          <a:p>
            <a:r>
              <a:rPr lang="en-US" sz="3200" dirty="0"/>
              <a:t>   - Positive </a:t>
            </a:r>
          </a:p>
          <a:p>
            <a:r>
              <a:rPr lang="en-US" sz="3200" dirty="0"/>
              <a:t>   - Neutral</a:t>
            </a:r>
          </a:p>
          <a:p>
            <a:r>
              <a:rPr lang="en-US" sz="3200" dirty="0"/>
              <a:t>   - Negative</a:t>
            </a:r>
          </a:p>
          <a:p>
            <a:endParaRPr lang="en-US" sz="3200" dirty="0"/>
          </a:p>
          <a:p>
            <a:r>
              <a:rPr lang="en-US" sz="3200" dirty="0"/>
              <a:t>• Created measures:</a:t>
            </a:r>
          </a:p>
          <a:p>
            <a:r>
              <a:rPr lang="en-US" sz="3200" dirty="0"/>
              <a:t>   - Positive %</a:t>
            </a:r>
          </a:p>
          <a:p>
            <a:r>
              <a:rPr lang="en-US" sz="3200" dirty="0"/>
              <a:t>   - Negative %</a:t>
            </a:r>
          </a:p>
          <a:p>
            <a:r>
              <a:rPr lang="en-US" sz="3200" dirty="0"/>
              <a:t>   - Sentiment distribution</a:t>
            </a:r>
          </a:p>
          <a:p>
            <a:endParaRPr lang="en-US" sz="3200" dirty="0"/>
          </a:p>
          <a:p>
            <a:r>
              <a:rPr lang="en-US" sz="3200" dirty="0"/>
              <a:t>• Visualized sentiment across restaurants</a:t>
            </a:r>
            <a:endParaRPr lang="en-IN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BFC6DDD-404A-4A1F-11A5-9C34B9CE5152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C0CD6C-1F5A-E65B-2CE4-C5BB90B23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1739224"/>
            <a:ext cx="13868400" cy="73666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46181C6-1A21-011B-9D73-AF7A4E46D268}"/>
              </a:ext>
            </a:extLst>
          </p:cNvPr>
          <p:cNvSpPr txBox="1"/>
          <p:nvPr/>
        </p:nvSpPr>
        <p:spPr>
          <a:xfrm>
            <a:off x="867817" y="524887"/>
            <a:ext cx="10363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Open Sauce Bold" panose="020B0604020202020204" charset="0"/>
              </a:rPr>
              <a:t>CUSTOMER SENTIMENT DASHBOARD</a:t>
            </a: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9ECDC4C1-3F74-70C1-C1E4-A05EE18E4137}"/>
              </a:ext>
            </a:extLst>
          </p:cNvPr>
          <p:cNvSpPr/>
          <p:nvPr/>
        </p:nvSpPr>
        <p:spPr>
          <a:xfrm>
            <a:off x="15163800" y="0"/>
            <a:ext cx="2900196" cy="1438360"/>
          </a:xfrm>
          <a:custGeom>
            <a:avLst/>
            <a:gdLst/>
            <a:ahLst/>
            <a:cxnLst/>
            <a:rect l="l" t="t" r="r" b="b"/>
            <a:pathLst>
              <a:path w="4123974" h="2675023">
                <a:moveTo>
                  <a:pt x="0" y="0"/>
                </a:moveTo>
                <a:lnTo>
                  <a:pt x="4123974" y="0"/>
                </a:lnTo>
                <a:lnTo>
                  <a:pt x="4123974" y="2675023"/>
                </a:lnTo>
                <a:lnTo>
                  <a:pt x="0" y="26750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9453" t="-58132" r="-63655" b="-56841"/>
            </a:stretch>
          </a:blipFill>
        </p:spPr>
      </p:sp>
    </p:spTree>
    <p:extLst>
      <p:ext uri="{BB962C8B-B14F-4D97-AF65-F5344CB8AC3E}">
        <p14:creationId xmlns:p14="http://schemas.microsoft.com/office/powerpoint/2010/main" val="159743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42569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-1905000" y="253006"/>
            <a:ext cx="12115800" cy="6414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79"/>
              </a:lnSpc>
              <a:spcBef>
                <a:spcPct val="0"/>
              </a:spcBef>
            </a:pPr>
            <a:r>
              <a:rPr lang="en-IN" sz="4000" b="1" dirty="0">
                <a:latin typeface="Open Sauce Bold" panose="020B0604020202020204" charset="0"/>
              </a:rPr>
              <a:t>Product Insights Module</a:t>
            </a:r>
            <a:endParaRPr lang="en-US" sz="4000" b="1" dirty="0">
              <a:solidFill>
                <a:srgbClr val="000000"/>
              </a:solidFill>
              <a:latin typeface="Open Sauce Bold" panose="020B0604020202020204" charset="0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5A4F720-4E24-993A-C275-BC11CA6545A8}"/>
              </a:ext>
            </a:extLst>
          </p:cNvPr>
          <p:cNvSpPr/>
          <p:nvPr/>
        </p:nvSpPr>
        <p:spPr>
          <a:xfrm>
            <a:off x="15380430" y="75801"/>
            <a:ext cx="2900196" cy="1438360"/>
          </a:xfrm>
          <a:custGeom>
            <a:avLst/>
            <a:gdLst/>
            <a:ahLst/>
            <a:cxnLst/>
            <a:rect l="l" t="t" r="r" b="b"/>
            <a:pathLst>
              <a:path w="4123974" h="2675023">
                <a:moveTo>
                  <a:pt x="0" y="0"/>
                </a:moveTo>
                <a:lnTo>
                  <a:pt x="4123974" y="0"/>
                </a:lnTo>
                <a:lnTo>
                  <a:pt x="4123974" y="2675023"/>
                </a:lnTo>
                <a:lnTo>
                  <a:pt x="0" y="26750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453" t="-58132" r="-63655" b="-56841"/>
            </a:stretch>
          </a:blipFill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418346-8400-9302-A05C-E67C025672C1}"/>
              </a:ext>
            </a:extLst>
          </p:cNvPr>
          <p:cNvSpPr txBox="1"/>
          <p:nvPr/>
        </p:nvSpPr>
        <p:spPr>
          <a:xfrm>
            <a:off x="1295400" y="1943100"/>
            <a:ext cx="137160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• Compared cuisines based on:</a:t>
            </a:r>
          </a:p>
          <a:p>
            <a:r>
              <a:rPr lang="en-US" sz="3200" dirty="0"/>
              <a:t>   - </a:t>
            </a:r>
            <a:r>
              <a:rPr lang="en-US" sz="2800" dirty="0"/>
              <a:t>Rating</a:t>
            </a:r>
          </a:p>
          <a:p>
            <a:r>
              <a:rPr lang="en-US" sz="2800" dirty="0"/>
              <a:t>   - Engagement (Number of Ratings)</a:t>
            </a:r>
          </a:p>
          <a:p>
            <a:endParaRPr lang="en-US" sz="3200" dirty="0"/>
          </a:p>
          <a:p>
            <a:r>
              <a:rPr lang="en-US" sz="3200" dirty="0"/>
              <a:t>• Identified popular food categories</a:t>
            </a:r>
          </a:p>
          <a:p>
            <a:endParaRPr lang="en-US" sz="3200" dirty="0"/>
          </a:p>
          <a:p>
            <a:r>
              <a:rPr lang="en-US" sz="3200" dirty="0"/>
              <a:t>• Analyzed pricing vs customer response</a:t>
            </a:r>
            <a:endParaRPr lang="en-IN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00C57C1-E333-E944-D118-0E75CB915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142" y="1485900"/>
            <a:ext cx="13182600" cy="762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317F916-5F33-9F2B-7CC1-E432CF57CB92}"/>
              </a:ext>
            </a:extLst>
          </p:cNvPr>
          <p:cNvSpPr txBox="1"/>
          <p:nvPr/>
        </p:nvSpPr>
        <p:spPr>
          <a:xfrm>
            <a:off x="533400" y="382229"/>
            <a:ext cx="13030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Open Sauce Bold" panose="020B0604020202020204" charset="0"/>
              </a:rPr>
              <a:t>PRODUCT INSIGHTS DASHBOARD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76D1AE22-53DB-4072-9B47-592A2A18FCC3}"/>
              </a:ext>
            </a:extLst>
          </p:cNvPr>
          <p:cNvSpPr/>
          <p:nvPr/>
        </p:nvSpPr>
        <p:spPr>
          <a:xfrm>
            <a:off x="15163800" y="16992"/>
            <a:ext cx="2900196" cy="1438360"/>
          </a:xfrm>
          <a:custGeom>
            <a:avLst/>
            <a:gdLst/>
            <a:ahLst/>
            <a:cxnLst/>
            <a:rect l="l" t="t" r="r" b="b"/>
            <a:pathLst>
              <a:path w="4123974" h="2675023">
                <a:moveTo>
                  <a:pt x="0" y="0"/>
                </a:moveTo>
                <a:lnTo>
                  <a:pt x="4123974" y="0"/>
                </a:lnTo>
                <a:lnTo>
                  <a:pt x="4123974" y="2675023"/>
                </a:lnTo>
                <a:lnTo>
                  <a:pt x="0" y="26750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453" t="-58132" r="-63655" b="-56841"/>
            </a:stretch>
          </a:blipFill>
        </p:spPr>
      </p:sp>
    </p:spTree>
    <p:extLst>
      <p:ext uri="{BB962C8B-B14F-4D97-AF65-F5344CB8AC3E}">
        <p14:creationId xmlns:p14="http://schemas.microsoft.com/office/powerpoint/2010/main" val="543610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2328162-6CC1-608D-4DE3-C7D4FC7F0ADB}"/>
              </a:ext>
            </a:extLst>
          </p:cNvPr>
          <p:cNvSpPr/>
          <p:nvPr/>
        </p:nvSpPr>
        <p:spPr>
          <a:xfrm>
            <a:off x="15163800" y="35642"/>
            <a:ext cx="2900196" cy="1438360"/>
          </a:xfrm>
          <a:custGeom>
            <a:avLst/>
            <a:gdLst/>
            <a:ahLst/>
            <a:cxnLst/>
            <a:rect l="l" t="t" r="r" b="b"/>
            <a:pathLst>
              <a:path w="4123974" h="2675023">
                <a:moveTo>
                  <a:pt x="0" y="0"/>
                </a:moveTo>
                <a:lnTo>
                  <a:pt x="4123974" y="0"/>
                </a:lnTo>
                <a:lnTo>
                  <a:pt x="4123974" y="2675023"/>
                </a:lnTo>
                <a:lnTo>
                  <a:pt x="0" y="26750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453" t="-58132" r="-63655" b="-56841"/>
            </a:stretch>
          </a:blipFill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C6AE50-7922-176E-3957-2A885116A5B7}"/>
              </a:ext>
            </a:extLst>
          </p:cNvPr>
          <p:cNvSpPr txBox="1"/>
          <p:nvPr/>
        </p:nvSpPr>
        <p:spPr>
          <a:xfrm>
            <a:off x="76200" y="400879"/>
            <a:ext cx="1249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</a:t>
            </a:r>
            <a:r>
              <a:rPr lang="en-IN" sz="4000" dirty="0">
                <a:latin typeface="Open Sauce Bold" panose="020B0604020202020204" charset="0"/>
              </a:rPr>
              <a:t>CUSTOMER SEGMENTATION MODULE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30F73F-29C1-0965-483C-5DC63CEA9BB1}"/>
              </a:ext>
            </a:extLst>
          </p:cNvPr>
          <p:cNvSpPr txBox="1"/>
          <p:nvPr/>
        </p:nvSpPr>
        <p:spPr>
          <a:xfrm>
            <a:off x="1447800" y="2095500"/>
            <a:ext cx="124968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Open Sauce" panose="020B0604020202020204" charset="0"/>
              </a:rPr>
              <a:t>Created Personas</a:t>
            </a:r>
            <a:r>
              <a:rPr lang="en-US" sz="2800" dirty="0">
                <a:latin typeface="Open Sauce" panose="020B0604020202020204" charset="0"/>
              </a:rPr>
              <a:t>:</a:t>
            </a:r>
          </a:p>
          <a:p>
            <a:r>
              <a:rPr lang="en-US" sz="2800" dirty="0">
                <a:latin typeface="Open Sauce" panose="020B0604020202020204" charset="0"/>
              </a:rPr>
              <a:t>• Loyal Fans → High rating</a:t>
            </a:r>
          </a:p>
          <a:p>
            <a:r>
              <a:rPr lang="en-US" sz="2800" dirty="0">
                <a:latin typeface="Open Sauce" panose="020B0604020202020204" charset="0"/>
              </a:rPr>
              <a:t>• Critics → Low rating</a:t>
            </a:r>
          </a:p>
          <a:p>
            <a:r>
              <a:rPr lang="en-US" sz="2800" dirty="0">
                <a:latin typeface="Open Sauce" panose="020B0604020202020204" charset="0"/>
              </a:rPr>
              <a:t>• Silent Users → Neutral</a:t>
            </a:r>
          </a:p>
          <a:p>
            <a:endParaRPr lang="en-US" sz="2800" dirty="0">
              <a:latin typeface="Open Sauce" panose="020B0604020202020204" charset="0"/>
            </a:endParaRPr>
          </a:p>
          <a:p>
            <a:endParaRPr lang="en-US" sz="2800" dirty="0">
              <a:latin typeface="Open Sauce" panose="020B0604020202020204" charset="0"/>
            </a:endParaRPr>
          </a:p>
          <a:p>
            <a:endParaRPr lang="en-US" sz="2800" dirty="0">
              <a:latin typeface="Open Sauce" panose="020B0604020202020204" charset="0"/>
            </a:endParaRPr>
          </a:p>
          <a:p>
            <a:r>
              <a:rPr lang="en-US" sz="2800" dirty="0">
                <a:latin typeface="Open Sauce" panose="020B0604020202020204" charset="0"/>
              </a:rPr>
              <a:t>• </a:t>
            </a:r>
            <a:r>
              <a:rPr lang="en-US" sz="2800" b="1" dirty="0">
                <a:latin typeface="Open Sauce" panose="020B0604020202020204" charset="0"/>
              </a:rPr>
              <a:t>Segmentation based on</a:t>
            </a:r>
            <a:r>
              <a:rPr lang="en-US" sz="2800" dirty="0">
                <a:latin typeface="Open Sauce" panose="020B0604020202020204" charset="0"/>
              </a:rPr>
              <a:t>:</a:t>
            </a:r>
          </a:p>
          <a:p>
            <a:r>
              <a:rPr lang="en-US" sz="2800" dirty="0">
                <a:latin typeface="Open Sauce" panose="020B0604020202020204" charset="0"/>
              </a:rPr>
              <a:t>   - Rating</a:t>
            </a:r>
          </a:p>
          <a:p>
            <a:r>
              <a:rPr lang="en-US" sz="2800" dirty="0">
                <a:latin typeface="Open Sauce" panose="020B0604020202020204" charset="0"/>
              </a:rPr>
              <a:t>   - Sentiment</a:t>
            </a:r>
          </a:p>
          <a:p>
            <a:r>
              <a:rPr lang="en-US" sz="2800" dirty="0">
                <a:latin typeface="Open Sauce" panose="020B0604020202020204" charset="0"/>
              </a:rPr>
              <a:t>   - Engagement</a:t>
            </a:r>
            <a:endParaRPr lang="en-IN" sz="2800" dirty="0">
              <a:latin typeface="Open Sauce" panose="020B06040202020202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" y="0"/>
            <a:ext cx="18288001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8952BC0E-7B3A-AC53-B128-60EC04DBDEB8}"/>
              </a:ext>
            </a:extLst>
          </p:cNvPr>
          <p:cNvSpPr/>
          <p:nvPr/>
        </p:nvSpPr>
        <p:spPr>
          <a:xfrm>
            <a:off x="15163800" y="0"/>
            <a:ext cx="2900196" cy="1438360"/>
          </a:xfrm>
          <a:custGeom>
            <a:avLst/>
            <a:gdLst/>
            <a:ahLst/>
            <a:cxnLst/>
            <a:rect l="l" t="t" r="r" b="b"/>
            <a:pathLst>
              <a:path w="4123974" h="2675023">
                <a:moveTo>
                  <a:pt x="0" y="0"/>
                </a:moveTo>
                <a:lnTo>
                  <a:pt x="4123974" y="0"/>
                </a:lnTo>
                <a:lnTo>
                  <a:pt x="4123974" y="2675023"/>
                </a:lnTo>
                <a:lnTo>
                  <a:pt x="0" y="26750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453" t="-58132" r="-63655" b="-56841"/>
            </a:stretch>
          </a:blipFill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7C2DAB-AA4A-40FD-0E34-997C1F450D3B}"/>
              </a:ext>
            </a:extLst>
          </p:cNvPr>
          <p:cNvSpPr txBox="1"/>
          <p:nvPr/>
        </p:nvSpPr>
        <p:spPr>
          <a:xfrm>
            <a:off x="1093970" y="145015"/>
            <a:ext cx="120886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Open Sauce Bold" panose="020B0604020202020204" charset="0"/>
              </a:rPr>
              <a:t>CUSTOMER SEGMENTATION DASHBOARD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3964D6-828F-E5D2-EED3-0644077BD1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104901"/>
            <a:ext cx="14101595" cy="8686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EB77F6CB-A267-A738-CC7F-E85E2CE15BC0}"/>
              </a:ext>
            </a:extLst>
          </p:cNvPr>
          <p:cNvSpPr/>
          <p:nvPr/>
        </p:nvSpPr>
        <p:spPr>
          <a:xfrm>
            <a:off x="0" y="-1126986"/>
            <a:ext cx="18288000" cy="11413986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254315-790D-5989-E73E-05295454524C}"/>
              </a:ext>
            </a:extLst>
          </p:cNvPr>
          <p:cNvSpPr txBox="1"/>
          <p:nvPr/>
        </p:nvSpPr>
        <p:spPr>
          <a:xfrm>
            <a:off x="457200" y="312866"/>
            <a:ext cx="12268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Open Sauce Bold" panose="020B0604020202020204" charset="0"/>
              </a:rPr>
              <a:t>RESTAURANT PERFORMANCE DASHBOARD</a:t>
            </a:r>
            <a:endParaRPr lang="en-IN" sz="4000" b="1" dirty="0">
              <a:latin typeface="Open Sauce Bold" panose="020B0604020202020204" charset="0"/>
            </a:endParaRPr>
          </a:p>
          <a:p>
            <a:endParaRPr lang="en-IN" sz="4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F92C8A-CB66-CE64-1188-3F728ECFF6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333500"/>
            <a:ext cx="14759561" cy="8001000"/>
          </a:xfrm>
          <a:prstGeom prst="rect">
            <a:avLst/>
          </a:prstGeom>
        </p:spPr>
      </p:pic>
      <p:sp>
        <p:nvSpPr>
          <p:cNvPr id="7" name="Freeform 3">
            <a:extLst>
              <a:ext uri="{FF2B5EF4-FFF2-40B4-BE49-F238E27FC236}">
                <a16:creationId xmlns:a16="http://schemas.microsoft.com/office/drawing/2014/main" id="{11AC7B0D-48CB-2B44-C06B-2C8FC7C0C089}"/>
              </a:ext>
            </a:extLst>
          </p:cNvPr>
          <p:cNvSpPr/>
          <p:nvPr/>
        </p:nvSpPr>
        <p:spPr>
          <a:xfrm>
            <a:off x="15252660" y="135176"/>
            <a:ext cx="2900196" cy="1438360"/>
          </a:xfrm>
          <a:custGeom>
            <a:avLst/>
            <a:gdLst/>
            <a:ahLst/>
            <a:cxnLst/>
            <a:rect l="l" t="t" r="r" b="b"/>
            <a:pathLst>
              <a:path w="4123974" h="2675023">
                <a:moveTo>
                  <a:pt x="0" y="0"/>
                </a:moveTo>
                <a:lnTo>
                  <a:pt x="4123974" y="0"/>
                </a:lnTo>
                <a:lnTo>
                  <a:pt x="4123974" y="2675023"/>
                </a:lnTo>
                <a:lnTo>
                  <a:pt x="0" y="26750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9453" t="-58132" r="-63655" b="-56841"/>
            </a:stretch>
          </a:blipFill>
        </p:spPr>
      </p:sp>
    </p:spTree>
    <p:extLst>
      <p:ext uri="{BB962C8B-B14F-4D97-AF65-F5344CB8AC3E}">
        <p14:creationId xmlns:p14="http://schemas.microsoft.com/office/powerpoint/2010/main" val="13507536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7022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9139238" y="4274503"/>
            <a:ext cx="9525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127022" y="430751"/>
            <a:ext cx="11334749" cy="6895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  <a:spcBef>
                <a:spcPct val="0"/>
              </a:spcBef>
            </a:pPr>
            <a:r>
              <a:rPr lang="en-IN" sz="4000" dirty="0">
                <a:latin typeface="Open Sauce Bold" panose="020B0604020202020204" charset="0"/>
              </a:rPr>
              <a:t>STRATEGY &amp; INNOVATION DASHBOARD</a:t>
            </a:r>
            <a:endParaRPr lang="en-US" sz="4000" b="1" dirty="0">
              <a:solidFill>
                <a:srgbClr val="000000"/>
              </a:solidFill>
              <a:latin typeface="Open Sauce Bold" panose="020B0604020202020204" charset="0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10731953-AE87-FF97-DB8D-2398FAD46A11}"/>
              </a:ext>
            </a:extLst>
          </p:cNvPr>
          <p:cNvSpPr/>
          <p:nvPr/>
        </p:nvSpPr>
        <p:spPr>
          <a:xfrm>
            <a:off x="15240000" y="15977"/>
            <a:ext cx="2900196" cy="1438360"/>
          </a:xfrm>
          <a:custGeom>
            <a:avLst/>
            <a:gdLst/>
            <a:ahLst/>
            <a:cxnLst/>
            <a:rect l="l" t="t" r="r" b="b"/>
            <a:pathLst>
              <a:path w="4123974" h="2675023">
                <a:moveTo>
                  <a:pt x="0" y="0"/>
                </a:moveTo>
                <a:lnTo>
                  <a:pt x="4123974" y="0"/>
                </a:lnTo>
                <a:lnTo>
                  <a:pt x="4123974" y="2675023"/>
                </a:lnTo>
                <a:lnTo>
                  <a:pt x="0" y="26750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453" t="-58132" r="-63655" b="-56841"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35E4D4-335E-CAB8-92A8-2676D9ED0F7A}"/>
              </a:ext>
            </a:extLst>
          </p:cNvPr>
          <p:cNvSpPr txBox="1"/>
          <p:nvPr/>
        </p:nvSpPr>
        <p:spPr>
          <a:xfrm>
            <a:off x="990600" y="2171700"/>
            <a:ext cx="130302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• Identified trending cuisines</a:t>
            </a:r>
          </a:p>
          <a:p>
            <a:endParaRPr lang="en-US" sz="3200" dirty="0"/>
          </a:p>
          <a:p>
            <a:r>
              <a:rPr lang="en-US" sz="3200" dirty="0"/>
              <a:t>• Analyzed sentiment trends over time</a:t>
            </a:r>
          </a:p>
          <a:p>
            <a:endParaRPr lang="en-US" sz="3200" dirty="0"/>
          </a:p>
          <a:p>
            <a:r>
              <a:rPr lang="en-US" sz="3200" dirty="0"/>
              <a:t>• Found opportunity areas:</a:t>
            </a:r>
          </a:p>
          <a:p>
            <a:r>
              <a:rPr lang="en-US" sz="3200" dirty="0"/>
              <a:t>   - High demand + low rating</a:t>
            </a:r>
          </a:p>
          <a:p>
            <a:endParaRPr lang="en-US" sz="3200" dirty="0"/>
          </a:p>
          <a:p>
            <a:r>
              <a:rPr lang="en-US" sz="3200" dirty="0"/>
              <a:t>• Used simulated weekly data for trend analysis</a:t>
            </a:r>
            <a:endParaRPr lang="en-IN" sz="3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9379" y="-2581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1429E39A-5940-E6F3-55E5-D9650C272A99}"/>
              </a:ext>
            </a:extLst>
          </p:cNvPr>
          <p:cNvSpPr/>
          <p:nvPr/>
        </p:nvSpPr>
        <p:spPr>
          <a:xfrm>
            <a:off x="15240000" y="33184"/>
            <a:ext cx="2900196" cy="1438360"/>
          </a:xfrm>
          <a:custGeom>
            <a:avLst/>
            <a:gdLst/>
            <a:ahLst/>
            <a:cxnLst/>
            <a:rect l="l" t="t" r="r" b="b"/>
            <a:pathLst>
              <a:path w="4123974" h="2675023">
                <a:moveTo>
                  <a:pt x="0" y="0"/>
                </a:moveTo>
                <a:lnTo>
                  <a:pt x="4123974" y="0"/>
                </a:lnTo>
                <a:lnTo>
                  <a:pt x="4123974" y="2675023"/>
                </a:lnTo>
                <a:lnTo>
                  <a:pt x="0" y="26750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453" t="-58132" r="-63655" b="-56841"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179B2E-B8A1-378E-CCA9-6D3841F58F87}"/>
              </a:ext>
            </a:extLst>
          </p:cNvPr>
          <p:cNvSpPr txBox="1"/>
          <p:nvPr/>
        </p:nvSpPr>
        <p:spPr>
          <a:xfrm>
            <a:off x="914400" y="355975"/>
            <a:ext cx="10744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Open Sauce Bold" panose="020B0604020202020204" charset="0"/>
              </a:rPr>
              <a:t>STRATEGY &amp; INNOVATION DASHBOARD</a:t>
            </a:r>
            <a:endParaRPr lang="en-US" sz="4000" b="1" dirty="0">
              <a:solidFill>
                <a:srgbClr val="000000"/>
              </a:solidFill>
              <a:latin typeface="Open Sauce Bold" panose="020B0604020202020204" charset="0"/>
              <a:ea typeface="Open Sauce Bold"/>
              <a:cs typeface="Open Sauce Bold"/>
              <a:sym typeface="Open Sauce Bold"/>
            </a:endParaRPr>
          </a:p>
          <a:p>
            <a:endParaRPr lang="en-IN" sz="4000" dirty="0">
              <a:latin typeface="Open Sauce Bold" panose="020B060402020202020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D9CCB8-3F1D-2842-2072-BD6311584B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471544"/>
            <a:ext cx="14325600" cy="824395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7318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TextBox 3"/>
          <p:cNvSpPr txBox="1"/>
          <p:nvPr/>
        </p:nvSpPr>
        <p:spPr>
          <a:xfrm>
            <a:off x="13671125" y="9142095"/>
            <a:ext cx="345047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11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90110" y="176325"/>
            <a:ext cx="7820490" cy="6703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>
              <a:lnSpc>
                <a:spcPts val="5599"/>
              </a:lnSpc>
              <a:spcBef>
                <a:spcPct val="0"/>
              </a:spcBef>
            </a:pPr>
            <a:r>
              <a:rPr lang="en-IN" sz="4000" dirty="0">
                <a:latin typeface="Open Sauce Bold" panose="020B0604020202020204" charset="0"/>
              </a:rPr>
              <a:t>KEY INSIGHTS</a:t>
            </a:r>
            <a:endParaRPr lang="en-US" sz="4000" b="1" dirty="0">
              <a:solidFill>
                <a:srgbClr val="000000"/>
              </a:solidFill>
              <a:latin typeface="Open Sauce Bold" panose="020B0604020202020204" charset="0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73DD0CCD-E469-FAA5-B16F-712CF7626B51}"/>
              </a:ext>
            </a:extLst>
          </p:cNvPr>
          <p:cNvSpPr/>
          <p:nvPr/>
        </p:nvSpPr>
        <p:spPr>
          <a:xfrm>
            <a:off x="15163800" y="117546"/>
            <a:ext cx="2900196" cy="1438360"/>
          </a:xfrm>
          <a:custGeom>
            <a:avLst/>
            <a:gdLst/>
            <a:ahLst/>
            <a:cxnLst/>
            <a:rect l="l" t="t" r="r" b="b"/>
            <a:pathLst>
              <a:path w="4123974" h="2675023">
                <a:moveTo>
                  <a:pt x="0" y="0"/>
                </a:moveTo>
                <a:lnTo>
                  <a:pt x="4123974" y="0"/>
                </a:lnTo>
                <a:lnTo>
                  <a:pt x="4123974" y="2675023"/>
                </a:lnTo>
                <a:lnTo>
                  <a:pt x="0" y="26750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453" t="-58132" r="-63655" b="-56841"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02BDD3-D827-5333-EB27-8DE8699AB617}"/>
              </a:ext>
            </a:extLst>
          </p:cNvPr>
          <p:cNvSpPr txBox="1"/>
          <p:nvPr/>
        </p:nvSpPr>
        <p:spPr>
          <a:xfrm>
            <a:off x="1524000" y="1866900"/>
            <a:ext cx="11811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sz="3200" dirty="0"/>
              <a:t>Bakery &amp; Fast Food have high engagement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 Positive sentiment dominates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 Some cuisines need quality improvement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 Customer segmentation helps targeted strategies</a:t>
            </a:r>
            <a:endParaRPr lang="en-IN" sz="3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927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40AA44B8-41DA-34E4-22E5-D85C0735F36D}"/>
              </a:ext>
            </a:extLst>
          </p:cNvPr>
          <p:cNvSpPr/>
          <p:nvPr/>
        </p:nvSpPr>
        <p:spPr>
          <a:xfrm>
            <a:off x="15240000" y="126912"/>
            <a:ext cx="2900196" cy="1438360"/>
          </a:xfrm>
          <a:custGeom>
            <a:avLst/>
            <a:gdLst/>
            <a:ahLst/>
            <a:cxnLst/>
            <a:rect l="l" t="t" r="r" b="b"/>
            <a:pathLst>
              <a:path w="4123974" h="2675023">
                <a:moveTo>
                  <a:pt x="0" y="0"/>
                </a:moveTo>
                <a:lnTo>
                  <a:pt x="4123974" y="0"/>
                </a:lnTo>
                <a:lnTo>
                  <a:pt x="4123974" y="2675023"/>
                </a:lnTo>
                <a:lnTo>
                  <a:pt x="0" y="26750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453" t="-58132" r="-63655" b="-56841"/>
            </a:stretch>
          </a:blipFill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442F54-35DF-3110-975B-795E185E3CCF}"/>
              </a:ext>
            </a:extLst>
          </p:cNvPr>
          <p:cNvSpPr txBox="1"/>
          <p:nvPr/>
        </p:nvSpPr>
        <p:spPr>
          <a:xfrm>
            <a:off x="990600" y="269072"/>
            <a:ext cx="11277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Open Sauce Bold" panose="020B0604020202020204" charset="0"/>
              </a:rPr>
              <a:t>FUTURE SCOPE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DB03B7-1B11-26BE-CC80-D1D728931D86}"/>
              </a:ext>
            </a:extLst>
          </p:cNvPr>
          <p:cNvSpPr txBox="1"/>
          <p:nvPr/>
        </p:nvSpPr>
        <p:spPr>
          <a:xfrm>
            <a:off x="1257300" y="2095500"/>
            <a:ext cx="107442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• Use real-time data</a:t>
            </a:r>
          </a:p>
          <a:p>
            <a:endParaRPr lang="en-US" sz="3200" dirty="0"/>
          </a:p>
          <a:p>
            <a:r>
              <a:rPr lang="en-US" sz="3200" dirty="0"/>
              <a:t>• Add NLP for real reviews</a:t>
            </a:r>
          </a:p>
          <a:p>
            <a:endParaRPr lang="en-US" sz="3200" dirty="0"/>
          </a:p>
          <a:p>
            <a:r>
              <a:rPr lang="en-US" sz="3200" dirty="0"/>
              <a:t>• Include customer demographics</a:t>
            </a:r>
          </a:p>
          <a:p>
            <a:endParaRPr lang="en-US" sz="3200" dirty="0"/>
          </a:p>
          <a:p>
            <a:r>
              <a:rPr lang="en-US" sz="3200" dirty="0"/>
              <a:t>• Improve recommendation system</a:t>
            </a:r>
            <a:endParaRPr lang="en-IN" sz="3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E4540DA3-0EF3-3931-BAB8-D29A995B2F9A}"/>
              </a:ext>
            </a:extLst>
          </p:cNvPr>
          <p:cNvSpPr/>
          <p:nvPr/>
        </p:nvSpPr>
        <p:spPr>
          <a:xfrm>
            <a:off x="15240000" y="1229"/>
            <a:ext cx="2900196" cy="1438360"/>
          </a:xfrm>
          <a:custGeom>
            <a:avLst/>
            <a:gdLst/>
            <a:ahLst/>
            <a:cxnLst/>
            <a:rect l="l" t="t" r="r" b="b"/>
            <a:pathLst>
              <a:path w="4123974" h="2675023">
                <a:moveTo>
                  <a:pt x="0" y="0"/>
                </a:moveTo>
                <a:lnTo>
                  <a:pt x="4123974" y="0"/>
                </a:lnTo>
                <a:lnTo>
                  <a:pt x="4123974" y="2675023"/>
                </a:lnTo>
                <a:lnTo>
                  <a:pt x="0" y="26750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9453" t="-58132" r="-63655" b="-56841"/>
            </a:stretch>
          </a:blipFill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446F65-550C-04A2-E281-2455BBBC1C39}"/>
              </a:ext>
            </a:extLst>
          </p:cNvPr>
          <p:cNvSpPr txBox="1"/>
          <p:nvPr/>
        </p:nvSpPr>
        <p:spPr>
          <a:xfrm>
            <a:off x="838200" y="408709"/>
            <a:ext cx="899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Open Sauce Bold" panose="020B0604020202020204" charset="0"/>
              </a:rPr>
              <a:t>CONCLUSION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B85CBC-3EBC-601B-D970-D1B0ECBE6305}"/>
              </a:ext>
            </a:extLst>
          </p:cNvPr>
          <p:cNvSpPr txBox="1"/>
          <p:nvPr/>
        </p:nvSpPr>
        <p:spPr>
          <a:xfrm>
            <a:off x="1143000" y="1439589"/>
            <a:ext cx="11811000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 The project successfully analyzed restaurant data using Power BI </a:t>
            </a:r>
          </a:p>
          <a:p>
            <a:r>
              <a:rPr lang="en-US" sz="3200" dirty="0"/>
              <a:t>  to generate meaningful insights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 Sentiment analysis helped in understanding customer satisfaction   and overall feedback trends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Product insights identified high-performing cuisines and   engagement patterns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Customer segmentation enabled classification of users into   Loyal Fans, Critics, and Silent Users for better targeting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 The dashboards provide a clear and interactive way to support  data-driven decision making in the restaurant industry 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317823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4943</TotalTime>
  <Words>409</Words>
  <Application>Microsoft Office PowerPoint</Application>
  <PresentationFormat>Custom</PresentationFormat>
  <Paragraphs>116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DM Serif Display</vt:lpstr>
      <vt:lpstr>Arial</vt:lpstr>
      <vt:lpstr>Calibri</vt:lpstr>
      <vt:lpstr>Open Sauce</vt:lpstr>
      <vt:lpstr>Open Sauce Bold</vt:lpstr>
      <vt:lpstr>Open Sauce 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 Deck</dc:title>
  <dc:creator>Janhavi Sharma</dc:creator>
  <cp:lastModifiedBy>Omkar Dongare</cp:lastModifiedBy>
  <cp:revision>20</cp:revision>
  <dcterms:created xsi:type="dcterms:W3CDTF">2006-08-16T00:00:00Z</dcterms:created>
  <dcterms:modified xsi:type="dcterms:W3CDTF">2026-03-31T17:26:57Z</dcterms:modified>
  <dc:identifier>DAHCPip4DPA</dc:identifier>
</cp:coreProperties>
</file>